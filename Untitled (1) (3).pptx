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  <p:embeddedFontLst>
    <p:embeddedFont>
      <p:font typeface="Calibri" panose="020F0502020204030204"/>
      <p:regular r:id="rId30"/>
    </p:embeddedFont>
    <p:embeddedFont>
      <p:font typeface="Source Serif 4 SemiBold" panose="02040603050405020204"/>
      <p:regular r:id="rId31"/>
    </p:embeddedFont>
    <p:embeddedFont>
      <p:font typeface="Source Sans 3" panose="020B0303030403020204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7f941ea52_1_18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g3e7f941ea52_1_18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0" name="Google Shape;130;g3e7f941ea52_1_18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7f941ea52_1_48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e7f941ea52_1_48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e7f941ea52_1_48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7f941ea52_1_15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7f941ea52_1_15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g3e7f941ea52_1_15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7f941ea52_1_13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7f941ea52_1_13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g3e7f941ea52_1_132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7f941ea52_1_17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7f941ea52_1_17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9" name="Google Shape;249;g3e7f941ea52_1_178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7f941ea52_1_18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7f941ea52_1_18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g3e7f941ea52_1_188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7f941ea52_1_25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7f941ea52_1_25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" name="Google Shape;264;g3e7f941ea52_1_25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7f941ea52_1_20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7f941ea52_1_20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1" name="Google Shape;271;g3e7f941ea52_1_20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7f941ea52_1_20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7f941ea52_1_209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g3e7f941ea52_1_209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7f941ea52_1_21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7f941ea52_1_21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g3e7f941ea52_1_216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7f941ea52_1_22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7f941ea52_1_22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g3e7f941ea52_1_22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7f941ea52_1_22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7f941ea52_1_22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7" name="Google Shape;297;g3e7f941ea52_1_228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7f941ea52_1_23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e7f941ea52_1_23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g3e7f941ea52_1_23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7f941ea52_1_16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3e7f941ea52_1_164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g3e7f941ea52_1_164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7f941ea52_1_89:notes"/>
          <p:cNvSpPr/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g3e7f941ea52_1_89:notes"/>
          <p:cNvSpPr txBox="1"/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1" name="Google Shape;351;g3e7f941ea52_1_89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7f941ea52_1_12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7f941ea52_1_127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6" name="Google Shape;376;g3e7f941ea52_1_127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7f941ea52_0_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e7f941ea52_0_4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e7f941ea52_0_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7f941ea52_0_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e7f941ea52_0_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e7f941ea52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e7f941ea52_0_1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e7f941ea52_0_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e7f941ea52_0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e7f941ea52_0_1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e7f941ea52_0_1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e7f941ea52_0_1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e7f941ea52_0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e7f941ea52_0_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7f941ea52_0_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e7f941ea52_0_23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e7f941ea52_0_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e7f941ea52_0_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e7f941ea52_0_2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7f941ea52_0_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g3e7f941ea52_0_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e7f941ea52_0_30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e7f941ea52_0_30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e7f941ea52_0_3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e7f941ea52_0_36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e7f941ea52_0_3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7f941ea52_0_39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e7f941ea52_0_39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e7f941ea52_0_3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7f941ea52_0_4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e7f941ea52_0_4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e7f941ea52_0_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e7f941ea52_0_4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e7f941ea52_0_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g3e7f941ea52_0_5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e7f941ea52_0_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e7f941ea52_0_5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e7f941ea52_0_5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3e7f941ea52_0_6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e7f941ea52_0_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3e7f941ea52_0_6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e7f941ea52_0_6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g3e7f941ea52_0_6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e7f941ea52_0_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e7f941ea52_0_7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e7f941ea52_0_7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e7f941ea52_0_7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e7f941ea52_0_7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e7f941ea52_0_8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e7f941ea52_0_8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7f941ea52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e7f941ea52_0_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e7f941ea52_0_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0.xml"/><Relationship Id="rId2" Type="http://schemas.openxmlformats.org/officeDocument/2006/relationships/hyperlink" Target="http://views.py" TargetMode="External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22.png"/><Relationship Id="rId1" Type="http://schemas.openxmlformats.org/officeDocument/2006/relationships/hyperlink" Target="http://models.py" TargetMode="Externa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0.xml"/><Relationship Id="rId2" Type="http://schemas.openxmlformats.org/officeDocument/2006/relationships/hyperlink" Target="http://urls.py" TargetMode="Externa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0" name="Google Shape;90;p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1289" y="380777"/>
            <a:ext cx="3286348" cy="438187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3858120" y="3082064"/>
            <a:ext cx="47169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3600"/>
              <a:buFont typeface="Source Serif 4 SemiBold" panose="02040603050405020204"/>
              <a:buNone/>
            </a:pPr>
            <a:endParaRPr b="1">
              <a:solidFill>
                <a:srgbClr val="D73AD7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541700" y="2092825"/>
            <a:ext cx="5500500" cy="2669700"/>
          </a:xfrm>
          <a:prstGeom prst="roundRect">
            <a:avLst>
              <a:gd name="adj" fmla="val 12105"/>
            </a:avLst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JAYPEE University Anoopshahr</a:t>
            </a: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Presented By:</a:t>
            </a: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 Srishti —                   8825501002</a:t>
            </a: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                       Kajal Kumari —    8825501013</a:t>
            </a: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Project Guide:   Mr. Rahul Gupta</a:t>
            </a: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3600"/>
              <a:buFont typeface="Source Serif 4 SemiBold" panose="02040603050405020204"/>
              <a:buNone/>
            </a:pPr>
            <a:endParaRPr sz="17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29850" y="175875"/>
            <a:ext cx="3170350" cy="47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3357635" y="662500"/>
            <a:ext cx="5500500" cy="21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9900FF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BrainyCampus</a:t>
            </a:r>
            <a:endParaRPr sz="2300" b="1">
              <a:solidFill>
                <a:srgbClr val="9900FF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9900FF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Smart Academic Management System</a:t>
            </a:r>
            <a:endParaRPr sz="1700">
              <a:solidFill>
                <a:srgbClr val="9900FF"/>
              </a:solidFill>
            </a:endParaRPr>
          </a:p>
          <a:p>
            <a:pPr marL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9900FF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9900FF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1" name="Google Shape;101;p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3952577" y="476101"/>
            <a:ext cx="3520306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750"/>
              <a:buFont typeface="Source Serif 4 SemiBold" panose="02040603050405020204"/>
              <a:buNone/>
            </a:pPr>
            <a:r>
              <a:rPr lang="en-US" sz="275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Introduction</a:t>
            </a:r>
            <a:endParaRPr sz="2750" b="0" i="0" u="none" strike="noStrike" cap="none"/>
          </a:p>
        </p:txBody>
      </p:sp>
      <p:sp>
        <p:nvSpPr>
          <p:cNvPr id="103" name="Google Shape;103;p2"/>
          <p:cNvSpPr/>
          <p:nvPr/>
        </p:nvSpPr>
        <p:spPr>
          <a:xfrm>
            <a:off x="3952577" y="1140470"/>
            <a:ext cx="4667845" cy="95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Traditional academic systems are fragmented — students and faculty juggle separate platforms for attendance, assignments, notes, and timetables. Manual record-keeping consumes valuable time and reduces overall productivity.</a:t>
            </a:r>
            <a:endParaRPr sz="1150" b="0" i="0" u="none" strike="noStrike" cap="none"/>
          </a:p>
        </p:txBody>
      </p:sp>
      <p:sp>
        <p:nvSpPr>
          <p:cNvPr id="104" name="Google Shape;104;p2"/>
          <p:cNvSpPr/>
          <p:nvPr/>
        </p:nvSpPr>
        <p:spPr>
          <a:xfrm>
            <a:off x="3952577" y="2266280"/>
            <a:ext cx="4667845" cy="1125736"/>
          </a:xfrm>
          <a:prstGeom prst="roundRect">
            <a:avLst>
              <a:gd name="adj" fmla="val 8123"/>
            </a:avLst>
          </a:prstGeom>
          <a:solidFill>
            <a:srgbClr val="FFFFFF">
              <a:alpha val="94901"/>
            </a:srgbClr>
          </a:solidFill>
          <a:ln w="19050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5" name="Google Shape;105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933527" y="2266280"/>
            <a:ext cx="76200" cy="11257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>
            <a:off x="4178350" y="2434903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The Problem</a:t>
            </a:r>
            <a:endParaRPr sz="1350" b="0" i="0" u="none" strike="noStrike" cap="none"/>
          </a:p>
        </p:txBody>
      </p:sp>
      <p:sp>
        <p:nvSpPr>
          <p:cNvPr id="107" name="Google Shape;107;p2"/>
          <p:cNvSpPr/>
          <p:nvPr/>
        </p:nvSpPr>
        <p:spPr>
          <a:xfrm>
            <a:off x="4178350" y="2744614"/>
            <a:ext cx="4273451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Disconnected tools, manual processes, and poor data organisation create friction for students and institutions alike.</a:t>
            </a:r>
            <a:endParaRPr sz="1150" b="0" i="0" u="none" strike="noStrike" cap="none"/>
          </a:p>
        </p:txBody>
      </p:sp>
      <p:sp>
        <p:nvSpPr>
          <p:cNvPr id="108" name="Google Shape;108;p2"/>
          <p:cNvSpPr/>
          <p:nvPr/>
        </p:nvSpPr>
        <p:spPr>
          <a:xfrm>
            <a:off x="3952577" y="3541588"/>
            <a:ext cx="4667845" cy="1125736"/>
          </a:xfrm>
          <a:prstGeom prst="roundRect">
            <a:avLst>
              <a:gd name="adj" fmla="val 8123"/>
            </a:avLst>
          </a:prstGeom>
          <a:solidFill>
            <a:srgbClr val="FFFFFF">
              <a:alpha val="94901"/>
            </a:srgbClr>
          </a:solidFill>
          <a:ln w="19050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933527" y="3541588"/>
            <a:ext cx="76200" cy="112573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4178350" y="3710211"/>
            <a:ext cx="1760116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The Solution</a:t>
            </a:r>
            <a:endParaRPr sz="1350" b="0" i="0" u="none" strike="noStrike" cap="none"/>
          </a:p>
        </p:txBody>
      </p:sp>
      <p:sp>
        <p:nvSpPr>
          <p:cNvPr id="111" name="Google Shape;111;p2"/>
          <p:cNvSpPr/>
          <p:nvPr/>
        </p:nvSpPr>
        <p:spPr>
          <a:xfrm>
            <a:off x="4178350" y="4019922"/>
            <a:ext cx="4273451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BrainyCampus is a </a:t>
            </a:r>
            <a:r>
              <a:rPr lang="en-US" sz="1150" b="1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centralised digital platform</a:t>
            </a: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 that unifies every academic activity into a single, efficient system.</a:t>
            </a:r>
            <a:endParaRPr sz="115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523577" y="1060177"/>
            <a:ext cx="3520306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750"/>
              <a:buFont typeface="Source Serif 4 SemiBold" panose="02040603050405020204"/>
              <a:buNone/>
            </a:pPr>
            <a:r>
              <a:rPr lang="en-US" sz="275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Problem Statement</a:t>
            </a:r>
            <a:endParaRPr sz="2750" b="0" i="0" u="none" strike="noStrike" cap="none"/>
          </a:p>
        </p:txBody>
      </p:sp>
      <p:sp>
        <p:nvSpPr>
          <p:cNvPr id="118" name="Google Shape;118;p3"/>
          <p:cNvSpPr/>
          <p:nvPr/>
        </p:nvSpPr>
        <p:spPr>
          <a:xfrm>
            <a:off x="523577" y="1799406"/>
            <a:ext cx="8096845" cy="2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Current academic environments suffer from a range of operational inefficiencies that hinder student and faculty performance.</a:t>
            </a:r>
            <a:endParaRPr sz="1150" b="0" i="0" u="none" strike="noStrike" cap="none"/>
          </a:p>
        </p:txBody>
      </p:sp>
      <p:sp>
        <p:nvSpPr>
          <p:cNvPr id="119" name="Google Shape;119;p3"/>
          <p:cNvSpPr/>
          <p:nvPr/>
        </p:nvSpPr>
        <p:spPr>
          <a:xfrm>
            <a:off x="1084585" y="2207047"/>
            <a:ext cx="2429098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Manual Record Management</a:t>
            </a:r>
            <a:endParaRPr sz="1350" b="0" i="0" u="none" strike="noStrike" cap="none"/>
          </a:p>
        </p:txBody>
      </p:sp>
      <p:sp>
        <p:nvSpPr>
          <p:cNvPr id="120" name="Google Shape;120;p3"/>
          <p:cNvSpPr/>
          <p:nvPr/>
        </p:nvSpPr>
        <p:spPr>
          <a:xfrm>
            <a:off x="1084585" y="2516758"/>
            <a:ext cx="3393877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Paper-based records are error-prone, time-consuming, and difficult to retrieve.</a:t>
            </a:r>
            <a:endParaRPr sz="1150" b="0" i="0" u="none" strike="noStrike" cap="none"/>
          </a:p>
        </p:txBody>
      </p:sp>
      <p:sp>
        <p:nvSpPr>
          <p:cNvPr id="121" name="Google Shape;121;p3"/>
          <p:cNvSpPr/>
          <p:nvPr/>
        </p:nvSpPr>
        <p:spPr>
          <a:xfrm>
            <a:off x="5226472" y="2207047"/>
            <a:ext cx="2039094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No Centralised Platform</a:t>
            </a:r>
            <a:endParaRPr sz="1350" b="0" i="0" u="none" strike="noStrike" cap="none"/>
          </a:p>
        </p:txBody>
      </p:sp>
      <p:sp>
        <p:nvSpPr>
          <p:cNvPr id="122" name="Google Shape;122;p3"/>
          <p:cNvSpPr/>
          <p:nvPr/>
        </p:nvSpPr>
        <p:spPr>
          <a:xfrm>
            <a:off x="5226472" y="2516758"/>
            <a:ext cx="3393951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Multiple disconnected tools lead to data silos and inconsistent information.</a:t>
            </a:r>
            <a:endParaRPr sz="1150" b="0" i="0" u="none" strike="noStrike" cap="none"/>
          </a:p>
        </p:txBody>
      </p:sp>
      <p:sp>
        <p:nvSpPr>
          <p:cNvPr id="123" name="Google Shape;123;p3"/>
          <p:cNvSpPr/>
          <p:nvPr/>
        </p:nvSpPr>
        <p:spPr>
          <a:xfrm>
            <a:off x="1084585" y="3294757"/>
            <a:ext cx="2642295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Assignment &amp; Attendance Gaps</a:t>
            </a:r>
            <a:endParaRPr sz="1350" b="0" i="0" u="none" strike="noStrike" cap="none"/>
          </a:p>
        </p:txBody>
      </p:sp>
      <p:sp>
        <p:nvSpPr>
          <p:cNvPr id="124" name="Google Shape;124;p3"/>
          <p:cNvSpPr/>
          <p:nvPr/>
        </p:nvSpPr>
        <p:spPr>
          <a:xfrm>
            <a:off x="1084585" y="3604468"/>
            <a:ext cx="3393877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Tracking deadlines and attendance manually leads to missed work and disputes.</a:t>
            </a:r>
            <a:endParaRPr sz="1150" b="0" i="0" u="none" strike="noStrike" cap="none"/>
          </a:p>
        </p:txBody>
      </p:sp>
      <p:sp>
        <p:nvSpPr>
          <p:cNvPr id="125" name="Google Shape;125;p3"/>
          <p:cNvSpPr/>
          <p:nvPr/>
        </p:nvSpPr>
        <p:spPr>
          <a:xfrm>
            <a:off x="5226472" y="3294757"/>
            <a:ext cx="2018333" cy="2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Poor Time Management</a:t>
            </a:r>
            <a:endParaRPr sz="1350" b="0" i="0" u="none" strike="noStrike" cap="none"/>
          </a:p>
        </p:txBody>
      </p:sp>
      <p:sp>
        <p:nvSpPr>
          <p:cNvPr id="126" name="Google Shape;126;p3"/>
          <p:cNvSpPr/>
          <p:nvPr/>
        </p:nvSpPr>
        <p:spPr>
          <a:xfrm>
            <a:off x="5226472" y="3604468"/>
            <a:ext cx="3393951" cy="47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Students struggle to plan exams, classes, and study schedules without a unified tool.</a:t>
            </a:r>
            <a:endParaRPr sz="115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7f941ea52_1_18"/>
          <p:cNvSpPr/>
          <p:nvPr/>
        </p:nvSpPr>
        <p:spPr>
          <a:xfrm>
            <a:off x="4432249" y="442577"/>
            <a:ext cx="4312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100"/>
              <a:buFont typeface="Source Serif 4 SemiBold" panose="02040603050405020204"/>
              <a:buNone/>
            </a:pPr>
            <a:r>
              <a:rPr lang="en-US" sz="2100" b="1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The Challenge We Are Solving</a:t>
            </a:r>
            <a:endParaRPr sz="2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3" name="Google Shape;133;g3e7f941ea52_1_1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52562" y="1132582"/>
            <a:ext cx="3579689" cy="357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e7f941ea52_1_1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08550" y="588575"/>
            <a:ext cx="3897875" cy="389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e7f941ea52_1_18"/>
          <p:cNvSpPr/>
          <p:nvPr/>
        </p:nvSpPr>
        <p:spPr>
          <a:xfrm>
            <a:off x="4716392" y="1497804"/>
            <a:ext cx="330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1050"/>
              <a:buFont typeface="Source Serif 4 SemiBold" panose="02040603050405020204"/>
              <a:buNone/>
            </a:pPr>
            <a:r>
              <a:rPr lang="en-US" sz="1050" b="1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Why It Matters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g3e7f941ea52_1_18"/>
          <p:cNvSpPr/>
          <p:nvPr/>
        </p:nvSpPr>
        <p:spPr>
          <a:xfrm>
            <a:off x="4716375" y="1958800"/>
            <a:ext cx="3842700" cy="9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Source Sans 3" panose="020B0303030403020204"/>
              <a:buNone/>
            </a:pPr>
            <a:r>
              <a:rPr lang="en-US" sz="9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Traditional academic administration relies heavily on manual processes — paper registers, disconnected spreadsheets, and informal communication. This leads to data inconsistency, lost records, and significant time wastage for both students and faculty.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g3e7f941ea52_1_18"/>
          <p:cNvSpPr/>
          <p:nvPr/>
        </p:nvSpPr>
        <p:spPr>
          <a:xfrm>
            <a:off x="4716375" y="2879501"/>
            <a:ext cx="3579600" cy="1104900"/>
          </a:xfrm>
          <a:prstGeom prst="roundRect">
            <a:avLst>
              <a:gd name="adj" fmla="val 8356"/>
            </a:avLst>
          </a:prstGeom>
          <a:solidFill>
            <a:srgbClr val="FCF2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8" name="Google Shape;138;g3e7f941ea52_1_18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30887" y="3286944"/>
            <a:ext cx="143173" cy="11452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e7f941ea52_1_18"/>
          <p:cNvSpPr/>
          <p:nvPr/>
        </p:nvSpPr>
        <p:spPr>
          <a:xfrm>
            <a:off x="5088582" y="3246016"/>
            <a:ext cx="30930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Source Sans 3" panose="020B0303030403020204"/>
              <a:buNone/>
            </a:pPr>
            <a:r>
              <a:rPr lang="en-US" sz="900">
                <a:solidFill>
                  <a:srgbClr val="000000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Without a centralised system, critical academic data remains vulnerable, inaccessible, and difficult to audit.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4538" y="1245096"/>
            <a:ext cx="2653233" cy="2653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3463225" y="335375"/>
            <a:ext cx="2855400" cy="399900"/>
          </a:xfrm>
          <a:prstGeom prst="roundRect">
            <a:avLst>
              <a:gd name="adj" fmla="val 0"/>
            </a:avLst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4"/>
          <p:cNvSpPr/>
          <p:nvPr/>
        </p:nvSpPr>
        <p:spPr>
          <a:xfrm>
            <a:off x="3707130" y="294640"/>
            <a:ext cx="1994535" cy="351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Source Sans 3" panose="020B0303030403020204"/>
              <a:buNone/>
            </a:pPr>
            <a:r>
              <a:rPr lang="en-US" sz="1950" b="1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OBJECTIVES</a:t>
            </a:r>
            <a:endParaRPr sz="1950" b="1" i="0" u="none" strike="noStrike" cap="none"/>
          </a:p>
        </p:txBody>
      </p:sp>
      <p:sp>
        <p:nvSpPr>
          <p:cNvPr id="148" name="Google Shape;148;p4"/>
          <p:cNvSpPr/>
          <p:nvPr/>
        </p:nvSpPr>
        <p:spPr>
          <a:xfrm>
            <a:off x="3463225" y="971401"/>
            <a:ext cx="52110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500"/>
              <a:buFont typeface="Source Serif 4 SemiBold" panose="02040603050405020204"/>
              <a:buNone/>
            </a:pPr>
            <a:r>
              <a:rPr lang="en-US" sz="220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What BrainyCampus Sets Out to Achieve</a:t>
            </a:r>
            <a:endParaRPr sz="2200" b="1">
              <a:solidFill>
                <a:srgbClr val="D73AD7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903825" y="1760850"/>
            <a:ext cx="44808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2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Simplify academic management</a:t>
            </a:r>
            <a:endParaRPr sz="1250" b="0" i="0" u="none" strike="noStrike" cap="none"/>
          </a:p>
        </p:txBody>
      </p:sp>
      <p:sp>
        <p:nvSpPr>
          <p:cNvPr id="150" name="Google Shape;150;p4"/>
          <p:cNvSpPr/>
          <p:nvPr/>
        </p:nvSpPr>
        <p:spPr>
          <a:xfrm>
            <a:off x="3903825" y="2064875"/>
            <a:ext cx="47166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 panose="020B0303030403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Replace fragmented workflows with one unified platform.</a:t>
            </a:r>
            <a:endParaRPr sz="1050" b="0" i="0" u="none" strike="noStrike" cap="none"/>
          </a:p>
        </p:txBody>
      </p:sp>
      <p:sp>
        <p:nvSpPr>
          <p:cNvPr id="151" name="Google Shape;151;p4"/>
          <p:cNvSpPr/>
          <p:nvPr/>
        </p:nvSpPr>
        <p:spPr>
          <a:xfrm>
            <a:off x="3903814" y="2535570"/>
            <a:ext cx="44808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2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Improve student    productivity</a:t>
            </a:r>
            <a:endParaRPr sz="1250" b="0" i="0" u="none" strike="noStrike" cap="none"/>
          </a:p>
        </p:txBody>
      </p:sp>
      <p:sp>
        <p:nvSpPr>
          <p:cNvPr id="152" name="Google Shape;152;p4"/>
          <p:cNvSpPr/>
          <p:nvPr/>
        </p:nvSpPr>
        <p:spPr>
          <a:xfrm>
            <a:off x="3903825" y="2782401"/>
            <a:ext cx="47703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 panose="020B0303030403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Reduce administrative overhead so students focus on learning.</a:t>
            </a:r>
            <a:endParaRPr sz="1050" b="0" i="0" u="none" strike="noStrike" cap="none"/>
          </a:p>
        </p:txBody>
      </p:sp>
      <p:sp>
        <p:nvSpPr>
          <p:cNvPr id="153" name="Google Shape;153;p4"/>
          <p:cNvSpPr/>
          <p:nvPr/>
        </p:nvSpPr>
        <p:spPr>
          <a:xfrm>
            <a:off x="3903817" y="3310301"/>
            <a:ext cx="42528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2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Enable secure role-based access</a:t>
            </a:r>
            <a:endParaRPr sz="1250" b="0" i="0" u="none" strike="noStrike" cap="none"/>
          </a:p>
        </p:txBody>
      </p:sp>
      <p:sp>
        <p:nvSpPr>
          <p:cNvPr id="154" name="Google Shape;154;p4"/>
          <p:cNvSpPr/>
          <p:nvPr/>
        </p:nvSpPr>
        <p:spPr>
          <a:xfrm>
            <a:off x="3903825" y="3546427"/>
            <a:ext cx="47703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 panose="020B0303030403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Students and admins access only relevant modules.</a:t>
            </a:r>
            <a:endParaRPr sz="1050" b="0" i="0" u="none" strike="noStrike" cap="none"/>
          </a:p>
        </p:txBody>
      </p:sp>
      <p:sp>
        <p:nvSpPr>
          <p:cNvPr id="155" name="Google Shape;155;p4"/>
          <p:cNvSpPr/>
          <p:nvPr/>
        </p:nvSpPr>
        <p:spPr>
          <a:xfrm>
            <a:off x="3903814" y="4085020"/>
            <a:ext cx="38907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2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Digitise academic records</a:t>
            </a:r>
            <a:endParaRPr sz="1250" b="0" i="0" u="none" strike="noStrike" cap="none"/>
          </a:p>
        </p:txBody>
      </p:sp>
      <p:sp>
        <p:nvSpPr>
          <p:cNvPr id="156" name="Google Shape;156;p4"/>
          <p:cNvSpPr/>
          <p:nvPr/>
        </p:nvSpPr>
        <p:spPr>
          <a:xfrm>
            <a:off x="3903825" y="4342551"/>
            <a:ext cx="47703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ans 3" panose="020B0303030403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All data stored securely, accessible anytime.</a:t>
            </a:r>
            <a:endParaRPr sz="105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7f941ea52_1_48"/>
          <p:cNvSpPr/>
          <p:nvPr/>
        </p:nvSpPr>
        <p:spPr>
          <a:xfrm>
            <a:off x="523575" y="478000"/>
            <a:ext cx="3313200" cy="452100"/>
          </a:xfrm>
          <a:prstGeom prst="roundRect">
            <a:avLst>
              <a:gd name="adj" fmla="val 17881"/>
            </a:avLst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g3e7f941ea52_1_48"/>
          <p:cNvSpPr/>
          <p:nvPr/>
        </p:nvSpPr>
        <p:spPr>
          <a:xfrm>
            <a:off x="788035" y="442595"/>
            <a:ext cx="3760470" cy="37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Source Sans 3" panose="020B0303030403020204"/>
              <a:buNone/>
            </a:pPr>
            <a:r>
              <a:rPr lang="en-US" sz="1800" b="1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TECHNOLOGY STACK :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g3e7f941ea52_1_48"/>
          <p:cNvSpPr/>
          <p:nvPr/>
        </p:nvSpPr>
        <p:spPr>
          <a:xfrm>
            <a:off x="523575" y="1091650"/>
            <a:ext cx="84111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750"/>
              <a:buFont typeface="Source Serif 4 SemiBold" panose="02040603050405020204"/>
              <a:buNone/>
            </a:pPr>
            <a:r>
              <a:rPr lang="en-US" sz="2750" b="1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Built With Modern, Proven Technologies</a:t>
            </a:r>
            <a:endParaRPr sz="2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5" name="Google Shape;165;g3e7f941ea52_1_4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3577" y="1756023"/>
            <a:ext cx="1092622" cy="109262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e7f941ea52_1_48"/>
          <p:cNvSpPr/>
          <p:nvPr/>
        </p:nvSpPr>
        <p:spPr>
          <a:xfrm>
            <a:off x="523577" y="3035647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Frontend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g3e7f941ea52_1_48"/>
          <p:cNvSpPr/>
          <p:nvPr/>
        </p:nvSpPr>
        <p:spPr>
          <a:xfrm>
            <a:off x="523577" y="3345359"/>
            <a:ext cx="1884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HTML5 · CSS3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g3e7f941ea52_1_48"/>
          <p:cNvSpPr/>
          <p:nvPr/>
        </p:nvSpPr>
        <p:spPr>
          <a:xfrm>
            <a:off x="523577" y="3674492"/>
            <a:ext cx="18840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Responsive, cross-browser compatible UI with clean modern design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9" name="Google Shape;169;g3e7f941ea52_1_4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94521" y="1773385"/>
            <a:ext cx="1092622" cy="1092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e7f941ea52_1_48"/>
          <p:cNvSpPr/>
          <p:nvPr/>
        </p:nvSpPr>
        <p:spPr>
          <a:xfrm>
            <a:off x="2594521" y="3035647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Backend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g3e7f941ea52_1_48"/>
          <p:cNvSpPr/>
          <p:nvPr/>
        </p:nvSpPr>
        <p:spPr>
          <a:xfrm>
            <a:off x="2594521" y="3345359"/>
            <a:ext cx="1884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Python · Django Framework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2" name="Google Shape;172;g3e7f941ea52_1_48"/>
          <p:cNvSpPr/>
          <p:nvPr/>
        </p:nvSpPr>
        <p:spPr>
          <a:xfrm>
            <a:off x="2594521" y="3674492"/>
            <a:ext cx="18840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Robust MVC architecture with built-in authentication and admin panel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3" name="Google Shape;173;g3e7f941ea52_1_48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665464" y="1756023"/>
            <a:ext cx="1092622" cy="1092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7f941ea52_1_48"/>
          <p:cNvSpPr/>
          <p:nvPr/>
        </p:nvSpPr>
        <p:spPr>
          <a:xfrm>
            <a:off x="4665464" y="3035647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Database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g3e7f941ea52_1_48"/>
          <p:cNvSpPr/>
          <p:nvPr/>
        </p:nvSpPr>
        <p:spPr>
          <a:xfrm>
            <a:off x="4665464" y="3345359"/>
            <a:ext cx="1884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SQLite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g3e7f941ea52_1_48"/>
          <p:cNvSpPr/>
          <p:nvPr/>
        </p:nvSpPr>
        <p:spPr>
          <a:xfrm>
            <a:off x="4665464" y="3674492"/>
            <a:ext cx="18840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Lightweight relational database with Django ORM integration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7" name="Google Shape;177;g3e7f941ea52_1_48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36407" y="1756023"/>
            <a:ext cx="1092696" cy="109269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e7f941ea52_1_48"/>
          <p:cNvSpPr/>
          <p:nvPr/>
        </p:nvSpPr>
        <p:spPr>
          <a:xfrm>
            <a:off x="6736407" y="3035722"/>
            <a:ext cx="1760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Source Serif 4 SemiBold" panose="02040603050405020204"/>
              <a:buNone/>
            </a:pPr>
            <a:r>
              <a:rPr lang="en-US" sz="1350" b="1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Tools</a:t>
            </a:r>
            <a:endParaRPr sz="13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g3e7f941ea52_1_48"/>
          <p:cNvSpPr/>
          <p:nvPr/>
        </p:nvSpPr>
        <p:spPr>
          <a:xfrm>
            <a:off x="6736407" y="3345433"/>
            <a:ext cx="1884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GitHub · VS Code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g3e7f941ea52_1_48"/>
          <p:cNvSpPr/>
          <p:nvPr/>
        </p:nvSpPr>
        <p:spPr>
          <a:xfrm>
            <a:off x="6736407" y="3674566"/>
            <a:ext cx="18840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ans 3" panose="020B0303030403020204"/>
              <a:buNone/>
            </a:pPr>
            <a:r>
              <a:rPr lang="en-US" sz="115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Version control, collaborative development, and professional debugging</a:t>
            </a:r>
            <a:endParaRPr sz="11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1" name="Google Shape;181;g3e7f941ea52_1_48" descr="ChatGPT Image Mar 23, 2026, 01_17_50 AM"/>
          <p:cNvPicPr preferRelativeResize="0"/>
          <p:nvPr/>
        </p:nvPicPr>
        <p:blipFill rotWithShape="1">
          <a:blip r:embed="rId5"/>
          <a:srcRect l="1039" t="36718" r="3650" b="43751"/>
          <a:stretch>
            <a:fillRect/>
          </a:stretch>
        </p:blipFill>
        <p:spPr>
          <a:xfrm>
            <a:off x="523575" y="1708556"/>
            <a:ext cx="7305525" cy="11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4614925" y="563450"/>
            <a:ext cx="37986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200"/>
              <a:buFont typeface="Source Serif 4 SemiBold" panose="02040603050405020204"/>
              <a:buNone/>
            </a:pPr>
            <a:r>
              <a:rPr lang="en-US" sz="220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Existing vs. Proposed System</a:t>
            </a:r>
            <a:endParaRPr sz="2200" b="0" i="0" u="none" strike="noStrike" cap="none"/>
          </a:p>
        </p:txBody>
      </p:sp>
      <p:pic>
        <p:nvPicPr>
          <p:cNvPr id="188" name="Google Shape;188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/>
          <p:nvPr/>
        </p:nvSpPr>
        <p:spPr>
          <a:xfrm>
            <a:off x="4668600" y="1531914"/>
            <a:ext cx="1537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1100"/>
              <a:buFont typeface="Source Serif 4 SemiBold" panose="02040603050405020204"/>
              <a:buNone/>
            </a:pPr>
            <a:r>
              <a:rPr lang="en-US" sz="110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Why Change Is Needed</a:t>
            </a:r>
            <a:endParaRPr sz="1100" b="0" i="0" u="none" strike="noStrike" cap="none"/>
          </a:p>
        </p:txBody>
      </p:sp>
      <p:sp>
        <p:nvSpPr>
          <p:cNvPr id="191" name="Google Shape;191;p5"/>
          <p:cNvSpPr/>
          <p:nvPr/>
        </p:nvSpPr>
        <p:spPr>
          <a:xfrm>
            <a:off x="4748950" y="2370179"/>
            <a:ext cx="3725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Source Sans 3" panose="020B0303030403020204"/>
              <a:buNone/>
            </a:pPr>
            <a:r>
              <a:rPr lang="en-US" sz="90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Traditional systems were built for a pre-digital era. They create data redundancy, consume staff time, and offer no real-time visibility into academic progress.</a:t>
            </a:r>
            <a:endParaRPr sz="900" b="0" i="0" u="none" strike="noStrike" cap="none"/>
          </a:p>
        </p:txBody>
      </p:sp>
      <p:sp>
        <p:nvSpPr>
          <p:cNvPr id="192" name="Google Shape;192;p5"/>
          <p:cNvSpPr/>
          <p:nvPr/>
        </p:nvSpPr>
        <p:spPr>
          <a:xfrm>
            <a:off x="4816000" y="3537528"/>
            <a:ext cx="3725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Source Sans 3" panose="020B0303030403020204"/>
              <a:buNone/>
            </a:pPr>
            <a:r>
              <a:rPr lang="en-US" sz="90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BrainyCampus addresses each pain point with a modern, integrated approach — replacing paper trails with live dashboards and automated workflows.</a:t>
            </a:r>
            <a:endParaRPr sz="900" b="0" i="0" u="none" strike="noStrike" cap="none"/>
          </a:p>
        </p:txBody>
      </p:sp>
      <p:sp>
        <p:nvSpPr>
          <p:cNvPr id="193" name="Google Shape;193;p5"/>
          <p:cNvSpPr txBox="1"/>
          <p:nvPr/>
        </p:nvSpPr>
        <p:spPr>
          <a:xfrm>
            <a:off x="7485850" y="2455025"/>
            <a:ext cx="165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7f941ea52_1_1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00" b="1">
              <a:solidFill>
                <a:srgbClr val="36609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0" name="Google Shape;200;g3e7f941ea52_1_150" descr="ChatGPT Image May 11, 2026, 06_52_01 AM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41550" y="728899"/>
            <a:ext cx="6452850" cy="43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e7f941ea52_1_150"/>
          <p:cNvSpPr txBox="1"/>
          <p:nvPr/>
        </p:nvSpPr>
        <p:spPr>
          <a:xfrm>
            <a:off x="523200" y="80501"/>
            <a:ext cx="75798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ER DIAGRAM :</a:t>
            </a:r>
            <a:endParaRPr sz="1600" b="1">
              <a:solidFill>
                <a:srgbClr val="36609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7f941ea52_1_132"/>
          <p:cNvSpPr txBox="1"/>
          <p:nvPr/>
        </p:nvSpPr>
        <p:spPr>
          <a:xfrm>
            <a:off x="107324" y="563450"/>
            <a:ext cx="47892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73AD7"/>
              </a:buClr>
              <a:buSzPts val="1900"/>
              <a:buFont typeface="Calibri" panose="020F0502020204030204"/>
              <a:buChar char="❖"/>
            </a:pPr>
            <a:r>
              <a:rPr lang="en-US" sz="1900" b="1">
                <a:solidFill>
                  <a:srgbClr val="D73AD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BASIC SYSTEM FLOW DIAGRAM</a:t>
            </a:r>
            <a:endParaRPr sz="1900" b="1">
              <a:solidFill>
                <a:srgbClr val="D73AD7"/>
              </a:solidFill>
            </a:endParaRPr>
          </a:p>
          <a:p>
            <a:pPr marL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50" b="1">
              <a:solidFill>
                <a:srgbClr val="D73AD7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  <p:sp>
        <p:nvSpPr>
          <p:cNvPr id="208" name="Google Shape;208;g3e7f941ea52_1_132"/>
          <p:cNvSpPr/>
          <p:nvPr/>
        </p:nvSpPr>
        <p:spPr>
          <a:xfrm>
            <a:off x="4011227" y="0"/>
            <a:ext cx="51195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9" name="Google Shape;209;g3e7f941ea52_1_1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319800" y="31650"/>
            <a:ext cx="44990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624855" y="376684"/>
            <a:ext cx="28602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250"/>
              <a:buFont typeface="Source Serif 4 SemiBold" panose="02040603050405020204"/>
              <a:buNone/>
            </a:pPr>
            <a:r>
              <a:rPr lang="en-US" sz="225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Core Modules</a:t>
            </a:r>
            <a:endParaRPr sz="2250" b="0" i="0" u="none" strike="noStrike" cap="none"/>
          </a:p>
        </p:txBody>
      </p:sp>
      <p:sp>
        <p:nvSpPr>
          <p:cNvPr id="216" name="Google Shape;216;p9"/>
          <p:cNvSpPr/>
          <p:nvPr/>
        </p:nvSpPr>
        <p:spPr>
          <a:xfrm>
            <a:off x="624855" y="1114053"/>
            <a:ext cx="3897734" cy="1030188"/>
          </a:xfrm>
          <a:prstGeom prst="roundRect">
            <a:avLst>
              <a:gd name="adj" fmla="val 6657"/>
            </a:avLst>
          </a:prstGeom>
          <a:solidFill>
            <a:srgbClr val="FFFFFF">
              <a:alpha val="94901"/>
            </a:srgbClr>
          </a:solidFill>
          <a:ln w="1427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7" name="Google Shape;217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4855" y="1099765"/>
            <a:ext cx="3897734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391370" y="931738"/>
            <a:ext cx="364629" cy="36462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760661" y="1417886"/>
            <a:ext cx="1715021" cy="17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 panose="02040603050405020204"/>
              <a:buNone/>
            </a:pPr>
            <a:r>
              <a:rPr lang="en-US" sz="110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Attendance Management</a:t>
            </a:r>
            <a:endParaRPr sz="1100" b="0" i="0" u="none" strike="noStrike" cap="none"/>
          </a:p>
        </p:txBody>
      </p:sp>
      <p:sp>
        <p:nvSpPr>
          <p:cNvPr id="220" name="Google Shape;220;p9"/>
          <p:cNvSpPr/>
          <p:nvPr/>
        </p:nvSpPr>
        <p:spPr>
          <a:xfrm>
            <a:off x="760661" y="1655862"/>
            <a:ext cx="3626123" cy="35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Record and review daily attendance; generate reports per subject or date range.</a:t>
            </a:r>
            <a:endParaRPr sz="950" b="0" i="0" u="none" strike="noStrike" cap="none"/>
          </a:p>
        </p:txBody>
      </p:sp>
      <p:sp>
        <p:nvSpPr>
          <p:cNvPr id="221" name="Google Shape;221;p9"/>
          <p:cNvSpPr/>
          <p:nvPr/>
        </p:nvSpPr>
        <p:spPr>
          <a:xfrm>
            <a:off x="4621337" y="1114053"/>
            <a:ext cx="3897809" cy="1030188"/>
          </a:xfrm>
          <a:prstGeom prst="roundRect">
            <a:avLst>
              <a:gd name="adj" fmla="val 6657"/>
            </a:avLst>
          </a:prstGeom>
          <a:solidFill>
            <a:srgbClr val="FFFFFF">
              <a:alpha val="94901"/>
            </a:srgbClr>
          </a:solidFill>
          <a:ln w="1427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2" name="Google Shape;222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21337" y="1099765"/>
            <a:ext cx="3897809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7926" y="931738"/>
            <a:ext cx="364629" cy="36462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4757142" y="1417886"/>
            <a:ext cx="1430089" cy="17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 panose="02040603050405020204"/>
              <a:buNone/>
            </a:pPr>
            <a:r>
              <a:rPr lang="en-US" sz="110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Assignment Tracker</a:t>
            </a:r>
            <a:endParaRPr sz="1100" b="0" i="0" u="none" strike="noStrike" cap="none"/>
          </a:p>
        </p:txBody>
      </p:sp>
      <p:sp>
        <p:nvSpPr>
          <p:cNvPr id="225" name="Google Shape;225;p9"/>
          <p:cNvSpPr/>
          <p:nvPr/>
        </p:nvSpPr>
        <p:spPr>
          <a:xfrm>
            <a:off x="4757142" y="1655862"/>
            <a:ext cx="3626197" cy="35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Create assignments with deadlines; track completion status and submission history.</a:t>
            </a:r>
            <a:endParaRPr sz="950" b="0" i="0" u="none" strike="noStrike" cap="none"/>
          </a:p>
        </p:txBody>
      </p:sp>
      <p:sp>
        <p:nvSpPr>
          <p:cNvPr id="226" name="Google Shape;226;p9"/>
          <p:cNvSpPr/>
          <p:nvPr/>
        </p:nvSpPr>
        <p:spPr>
          <a:xfrm>
            <a:off x="624855" y="2425303"/>
            <a:ext cx="3897734" cy="1030188"/>
          </a:xfrm>
          <a:prstGeom prst="roundRect">
            <a:avLst>
              <a:gd name="adj" fmla="val 6657"/>
            </a:avLst>
          </a:prstGeom>
          <a:solidFill>
            <a:srgbClr val="FFFFFF">
              <a:alpha val="94901"/>
            </a:srgbClr>
          </a:solidFill>
          <a:ln w="1427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7" name="Google Shape;227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4855" y="2411016"/>
            <a:ext cx="3897734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391370" y="2242989"/>
            <a:ext cx="364629" cy="36462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>
            <a:off x="760661" y="2729136"/>
            <a:ext cx="1430089" cy="17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 panose="02040603050405020204"/>
              <a:buNone/>
            </a:pPr>
            <a:r>
              <a:rPr lang="en-US" sz="110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Notes &amp; Notebook</a:t>
            </a:r>
            <a:endParaRPr sz="1100" b="0" i="0" u="none" strike="noStrike" cap="none"/>
          </a:p>
        </p:txBody>
      </p:sp>
      <p:sp>
        <p:nvSpPr>
          <p:cNvPr id="230" name="Google Shape;230;p9"/>
          <p:cNvSpPr/>
          <p:nvPr/>
        </p:nvSpPr>
        <p:spPr>
          <a:xfrm>
            <a:off x="760661" y="2967112"/>
            <a:ext cx="3626123" cy="35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Upload, organise, and access study notes and detailed content by subject.</a:t>
            </a:r>
            <a:endParaRPr sz="950" b="0" i="0" u="none" strike="noStrike" cap="none"/>
          </a:p>
        </p:txBody>
      </p:sp>
      <p:sp>
        <p:nvSpPr>
          <p:cNvPr id="231" name="Google Shape;231;p9"/>
          <p:cNvSpPr/>
          <p:nvPr/>
        </p:nvSpPr>
        <p:spPr>
          <a:xfrm>
            <a:off x="4621337" y="2425303"/>
            <a:ext cx="3897809" cy="1030188"/>
          </a:xfrm>
          <a:prstGeom prst="roundRect">
            <a:avLst>
              <a:gd name="adj" fmla="val 6657"/>
            </a:avLst>
          </a:prstGeom>
          <a:solidFill>
            <a:srgbClr val="FFFFFF">
              <a:alpha val="94901"/>
            </a:srgbClr>
          </a:solidFill>
          <a:ln w="1427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2" name="Google Shape;232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21337" y="2411016"/>
            <a:ext cx="3897809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7926" y="2242989"/>
            <a:ext cx="364629" cy="36462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4757142" y="2729136"/>
            <a:ext cx="1430089" cy="17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 panose="02040603050405020204"/>
              <a:buNone/>
            </a:pPr>
            <a:r>
              <a:rPr lang="en-US" sz="110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Exam Planner</a:t>
            </a:r>
            <a:endParaRPr sz="1100" b="0" i="0" u="none" strike="noStrike" cap="none"/>
          </a:p>
        </p:txBody>
      </p:sp>
      <p:sp>
        <p:nvSpPr>
          <p:cNvPr id="235" name="Google Shape;235;p9"/>
          <p:cNvSpPr/>
          <p:nvPr/>
        </p:nvSpPr>
        <p:spPr>
          <a:xfrm>
            <a:off x="4757142" y="2967112"/>
            <a:ext cx="3626197" cy="35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Schedule exams, set preparation milestones, and receive deadline reminders.</a:t>
            </a:r>
            <a:endParaRPr sz="950" b="0" i="0" u="none" strike="noStrike" cap="none"/>
          </a:p>
        </p:txBody>
      </p:sp>
      <p:sp>
        <p:nvSpPr>
          <p:cNvPr id="236" name="Google Shape;236;p9"/>
          <p:cNvSpPr/>
          <p:nvPr/>
        </p:nvSpPr>
        <p:spPr>
          <a:xfrm>
            <a:off x="624855" y="3736553"/>
            <a:ext cx="3897734" cy="1030188"/>
          </a:xfrm>
          <a:prstGeom prst="roundRect">
            <a:avLst>
              <a:gd name="adj" fmla="val 6657"/>
            </a:avLst>
          </a:prstGeom>
          <a:solidFill>
            <a:srgbClr val="FFFFFF">
              <a:alpha val="94901"/>
            </a:srgbClr>
          </a:solidFill>
          <a:ln w="1427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7" name="Google Shape;237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4855" y="3722266"/>
            <a:ext cx="3897734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391370" y="3554239"/>
            <a:ext cx="364629" cy="36462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760661" y="4040386"/>
            <a:ext cx="1430536" cy="17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 panose="02040603050405020204"/>
              <a:buNone/>
            </a:pPr>
            <a:r>
              <a:rPr lang="en-US" sz="110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Timetable Scheduler</a:t>
            </a:r>
            <a:endParaRPr sz="1100" b="0" i="0" u="none" strike="noStrike" cap="none"/>
          </a:p>
        </p:txBody>
      </p:sp>
      <p:sp>
        <p:nvSpPr>
          <p:cNvPr id="240" name="Google Shape;240;p9"/>
          <p:cNvSpPr/>
          <p:nvPr/>
        </p:nvSpPr>
        <p:spPr>
          <a:xfrm>
            <a:off x="760661" y="4278362"/>
            <a:ext cx="3626123" cy="35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Build weekly class schedules; avoid clashes and maintain a clear daily plan.</a:t>
            </a:r>
            <a:endParaRPr sz="950" b="0" i="0" u="none" strike="noStrike" cap="none"/>
          </a:p>
        </p:txBody>
      </p:sp>
      <p:sp>
        <p:nvSpPr>
          <p:cNvPr id="241" name="Google Shape;241;p9"/>
          <p:cNvSpPr/>
          <p:nvPr/>
        </p:nvSpPr>
        <p:spPr>
          <a:xfrm>
            <a:off x="4621337" y="3736553"/>
            <a:ext cx="3897809" cy="1030188"/>
          </a:xfrm>
          <a:prstGeom prst="roundRect">
            <a:avLst>
              <a:gd name="adj" fmla="val 6657"/>
            </a:avLst>
          </a:prstGeom>
          <a:solidFill>
            <a:srgbClr val="FFFFFF">
              <a:alpha val="94901"/>
            </a:srgbClr>
          </a:solidFill>
          <a:ln w="1427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2" name="Google Shape;242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21337" y="3722266"/>
            <a:ext cx="3897809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7926" y="3554239"/>
            <a:ext cx="364629" cy="36462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/>
          <p:nvPr/>
        </p:nvSpPr>
        <p:spPr>
          <a:xfrm>
            <a:off x="4757142" y="4040386"/>
            <a:ext cx="1430089" cy="17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erif 4 SemiBold" panose="02040603050405020204"/>
              <a:buNone/>
            </a:pPr>
            <a:r>
              <a:rPr lang="en-US" sz="110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Event Manager</a:t>
            </a:r>
            <a:endParaRPr sz="1100" b="0" i="0" u="none" strike="noStrike" cap="none"/>
          </a:p>
        </p:txBody>
      </p:sp>
      <p:sp>
        <p:nvSpPr>
          <p:cNvPr id="245" name="Google Shape;245;p9"/>
          <p:cNvSpPr/>
          <p:nvPr/>
        </p:nvSpPr>
        <p:spPr>
          <a:xfrm>
            <a:off x="4757142" y="4278362"/>
            <a:ext cx="3626197" cy="35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Track academic events, seminars, and institutional activities in one calendar.</a:t>
            </a:r>
            <a:endParaRPr sz="950" b="0" i="0" u="none" strike="noStrike"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7f941ea52_1_178"/>
          <p:cNvSpPr txBox="1"/>
          <p:nvPr/>
        </p:nvSpPr>
        <p:spPr>
          <a:xfrm>
            <a:off x="187825" y="0"/>
            <a:ext cx="36588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50" b="1">
              <a:solidFill>
                <a:srgbClr val="D73AD7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  <p:pic>
        <p:nvPicPr>
          <p:cNvPr id="252" name="Google Shape;252;g3e7f941ea52_1_178" descr="Screenshot (26)"/>
          <p:cNvPicPr preferRelativeResize="0"/>
          <p:nvPr/>
        </p:nvPicPr>
        <p:blipFill rotWithShape="1">
          <a:blip r:embed="rId1"/>
          <a:srcRect b="19498"/>
          <a:stretch>
            <a:fillRect/>
          </a:stretch>
        </p:blipFill>
        <p:spPr>
          <a:xfrm>
            <a:off x="3766004" y="0"/>
            <a:ext cx="5257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e7f941ea52_1_178"/>
          <p:cNvSpPr/>
          <p:nvPr/>
        </p:nvSpPr>
        <p:spPr>
          <a:xfrm>
            <a:off x="187825" y="482950"/>
            <a:ext cx="3099000" cy="2401500"/>
          </a:xfrm>
          <a:prstGeom prst="roundRect">
            <a:avLst>
              <a:gd name="adj" fmla="val 0"/>
            </a:avLst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Coding &amp; Implementation:</a:t>
            </a:r>
            <a:endParaRPr sz="2250" b="1"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u="sng">
                <a:solidFill>
                  <a:srgbClr val="0000FF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  <a:hlinkClick r:id="rId2"/>
              </a:rPr>
              <a:t>views.py</a:t>
            </a:r>
            <a:r>
              <a:rPr lang="en-US" sz="2250" b="1">
                <a:solidFill>
                  <a:srgbClr val="9900FF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 File</a:t>
            </a:r>
            <a:endParaRPr sz="1600" b="1">
              <a:solidFill>
                <a:srgbClr val="9900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3050" b="1">
              <a:solidFill>
                <a:srgbClr val="D73AD7"/>
              </a:solidFill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50" b="1"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7f941ea52_1_188"/>
          <p:cNvSpPr/>
          <p:nvPr/>
        </p:nvSpPr>
        <p:spPr>
          <a:xfrm>
            <a:off x="187825" y="813600"/>
            <a:ext cx="3099000" cy="943800"/>
          </a:xfrm>
          <a:prstGeom prst="roundRect">
            <a:avLst>
              <a:gd name="adj" fmla="val 0"/>
            </a:avLst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u="sng">
                <a:solidFill>
                  <a:schemeClr val="hlink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  <a:hlinkClick r:id="rId1"/>
              </a:rPr>
              <a:t>models.py</a:t>
            </a:r>
            <a:r>
              <a:rPr lang="en-US" sz="2250" b="1"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:</a:t>
            </a:r>
            <a:endParaRPr sz="2250" b="1"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Attendance</a:t>
            </a:r>
            <a:r>
              <a:rPr lang="en-US" sz="2250" b="1"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 Model</a:t>
            </a:r>
            <a:endParaRPr sz="2250" b="1"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  <p:pic>
        <p:nvPicPr>
          <p:cNvPr id="260" name="Google Shape;260;g3e7f941ea52_1_188" descr="Screenshot (32)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990975" y="0"/>
            <a:ext cx="5153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e7f941ea52_1_255" descr="Screenshot (34)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158800" y="0"/>
            <a:ext cx="4985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e7f941ea52_1_255"/>
          <p:cNvSpPr/>
          <p:nvPr/>
        </p:nvSpPr>
        <p:spPr>
          <a:xfrm>
            <a:off x="187825" y="813600"/>
            <a:ext cx="3099000" cy="943800"/>
          </a:xfrm>
          <a:prstGeom prst="roundRect">
            <a:avLst>
              <a:gd name="adj" fmla="val 0"/>
            </a:avLst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u="sng">
                <a:solidFill>
                  <a:schemeClr val="hlink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  <a:hlinkClick r:id="rId2"/>
              </a:rPr>
              <a:t>urls.py</a:t>
            </a:r>
            <a:endParaRPr sz="2250" b="1"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URL Routing Paths </a:t>
            </a:r>
            <a:endParaRPr sz="2250" b="1"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7f941ea52_1_200"/>
          <p:cNvSpPr/>
          <p:nvPr/>
        </p:nvSpPr>
        <p:spPr>
          <a:xfrm>
            <a:off x="1086675" y="80500"/>
            <a:ext cx="6801600" cy="630600"/>
          </a:xfrm>
          <a:prstGeom prst="roundRect">
            <a:avLst>
              <a:gd name="adj" fmla="val 0"/>
            </a:avLst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                      SCREENSHOTS AND RESULTS</a:t>
            </a:r>
            <a:endParaRPr lang="en-US" sz="2250" b="1">
              <a:latin typeface="Source Serif 4 SemiBold" panose="02040603050405020204"/>
              <a:ea typeface="Source Serif 4 SemiBold" panose="02040603050405020204"/>
              <a:cs typeface="Source Serif 4 SemiBold" panose="02040603050405020204"/>
              <a:sym typeface="Source Serif 4 SemiBold" panose="02040603050405020204"/>
            </a:endParaRPr>
          </a:p>
        </p:txBody>
      </p:sp>
      <p:pic>
        <p:nvPicPr>
          <p:cNvPr id="274" name="Google Shape;274;g3e7f941ea52_1_200"/>
          <p:cNvPicPr preferRelativeResize="0"/>
          <p:nvPr/>
        </p:nvPicPr>
        <p:blipFill rotWithShape="1">
          <a:blip r:embed="rId1"/>
          <a:srcRect l="35895" t="30693" r="35349" b="24532"/>
          <a:stretch>
            <a:fillRect/>
          </a:stretch>
        </p:blipFill>
        <p:spPr>
          <a:xfrm>
            <a:off x="80500" y="1167227"/>
            <a:ext cx="3635599" cy="358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e7f941ea52_1_200"/>
          <p:cNvPicPr preferRelativeResize="0"/>
          <p:nvPr/>
        </p:nvPicPr>
        <p:blipFill rotWithShape="1">
          <a:blip r:embed="rId2"/>
          <a:srcRect l="30211" t="10491" r="30037" b="8122"/>
          <a:stretch>
            <a:fillRect/>
          </a:stretch>
        </p:blipFill>
        <p:spPr>
          <a:xfrm>
            <a:off x="3796600" y="711100"/>
            <a:ext cx="5205201" cy="443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3e7f941ea52_1_209"/>
          <p:cNvPicPr preferRelativeResize="0"/>
          <p:nvPr/>
        </p:nvPicPr>
        <p:blipFill rotWithShape="1">
          <a:blip r:embed="rId1"/>
          <a:srcRect t="11501" b="9291"/>
          <a:stretch>
            <a:fillRect/>
          </a:stretch>
        </p:blipFill>
        <p:spPr>
          <a:xfrm>
            <a:off x="0" y="0"/>
            <a:ext cx="9144001" cy="50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g3e7f941ea52_1_216"/>
          <p:cNvPicPr preferRelativeResize="0"/>
          <p:nvPr/>
        </p:nvPicPr>
        <p:blipFill rotWithShape="1">
          <a:blip r:embed="rId1"/>
          <a:srcRect t="12048" r="980" b="18309"/>
          <a:stretch>
            <a:fillRect/>
          </a:stretch>
        </p:blipFill>
        <p:spPr>
          <a:xfrm>
            <a:off x="0" y="281725"/>
            <a:ext cx="9144001" cy="47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e7f941ea52_1_221"/>
          <p:cNvPicPr preferRelativeResize="0"/>
          <p:nvPr/>
        </p:nvPicPr>
        <p:blipFill rotWithShape="1">
          <a:blip r:embed="rId1"/>
          <a:srcRect l="14457" t="12688" r="13477" b="6751"/>
          <a:stretch>
            <a:fillRect/>
          </a:stretch>
        </p:blipFill>
        <p:spPr>
          <a:xfrm>
            <a:off x="0" y="0"/>
            <a:ext cx="9144001" cy="504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3e7f941ea52_1_228"/>
          <p:cNvPicPr preferRelativeResize="0"/>
          <p:nvPr/>
        </p:nvPicPr>
        <p:blipFill rotWithShape="1">
          <a:blip r:embed="rId1"/>
          <a:srcRect l="24862" t="10429" r="21958" b="14219"/>
          <a:stretch>
            <a:fillRect/>
          </a:stretch>
        </p:blipFill>
        <p:spPr>
          <a:xfrm>
            <a:off x="0" y="0"/>
            <a:ext cx="4990575" cy="50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e7f941ea52_1_228"/>
          <p:cNvPicPr preferRelativeResize="0"/>
          <p:nvPr/>
        </p:nvPicPr>
        <p:blipFill rotWithShape="1">
          <a:blip r:embed="rId2"/>
          <a:srcRect l="-101899" t="-18289" r="111031" b="23232"/>
          <a:stretch>
            <a:fillRect/>
          </a:stretch>
        </p:blipFill>
        <p:spPr>
          <a:xfrm>
            <a:off x="-1094825" y="959050"/>
            <a:ext cx="3912101" cy="230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e7f941ea52_1_228"/>
          <p:cNvPicPr preferRelativeResize="0"/>
          <p:nvPr/>
        </p:nvPicPr>
        <p:blipFill rotWithShape="1">
          <a:blip r:embed="rId2"/>
          <a:srcRect t="12282" r="63731" b="21002"/>
          <a:stretch>
            <a:fillRect/>
          </a:stretch>
        </p:blipFill>
        <p:spPr>
          <a:xfrm>
            <a:off x="5188450" y="0"/>
            <a:ext cx="3912101" cy="50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e7f941ea52_1_235"/>
          <p:cNvPicPr preferRelativeResize="0"/>
          <p:nvPr/>
        </p:nvPicPr>
        <p:blipFill rotWithShape="1">
          <a:blip r:embed="rId1"/>
          <a:srcRect l="13979" t="14082" r="13928" b="4425"/>
          <a:stretch>
            <a:fillRect/>
          </a:stretch>
        </p:blipFill>
        <p:spPr>
          <a:xfrm>
            <a:off x="107325" y="0"/>
            <a:ext cx="90366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7f941ea52_1_164"/>
          <p:cNvSpPr/>
          <p:nvPr/>
        </p:nvSpPr>
        <p:spPr>
          <a:xfrm>
            <a:off x="1004375" y="302125"/>
            <a:ext cx="6441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000"/>
              <a:buFont typeface="Source Serif 4 SemiBold" panose="02040603050405020204"/>
              <a:buNone/>
            </a:pPr>
            <a:r>
              <a:rPr lang="en-US" sz="2000" b="1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Three-Tier </a:t>
            </a:r>
            <a:r>
              <a:rPr lang="en-US" sz="200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System Architecture</a:t>
            </a:r>
            <a:endParaRPr sz="2000" b="0" i="0" u="none" strike="noStrike" cap="none"/>
          </a:p>
        </p:txBody>
      </p:sp>
      <p:sp>
        <p:nvSpPr>
          <p:cNvPr id="314" name="Google Shape;314;g3e7f941ea52_1_164"/>
          <p:cNvSpPr/>
          <p:nvPr/>
        </p:nvSpPr>
        <p:spPr>
          <a:xfrm>
            <a:off x="1004367" y="786557"/>
            <a:ext cx="7135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Source Sans 3" panose="020B0303030403020204"/>
              <a:buNone/>
            </a:pPr>
            <a:r>
              <a:rPr lang="en-US" sz="8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The BrainyCampus architecture follows a clean MVC pattern — user requests flow through Django's authentication layer into the dashboard, which routes to individual modules backed by SQLite3.</a:t>
            </a:r>
            <a:endParaRPr sz="850" b="0" i="0" u="none" strike="noStrike" cap="none"/>
          </a:p>
        </p:txBody>
      </p:sp>
      <p:pic>
        <p:nvPicPr>
          <p:cNvPr id="315" name="Google Shape;315;g3e7f941ea52_1_16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4367" y="1181919"/>
            <a:ext cx="7135189" cy="3265364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e7f941ea52_1_164"/>
          <p:cNvSpPr/>
          <p:nvPr/>
        </p:nvSpPr>
        <p:spPr>
          <a:xfrm>
            <a:off x="6230913" y="1622638"/>
            <a:ext cx="14853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erif 4 SemiBold" panose="02040603050405020204"/>
              <a:buNone/>
            </a:pPr>
            <a:r>
              <a:rPr lang="en-US" sz="11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Data &amp; Output</a:t>
            </a:r>
            <a:endParaRPr sz="1150" b="0" i="0" u="none" strike="noStrike" cap="none"/>
          </a:p>
        </p:txBody>
      </p:sp>
      <p:sp>
        <p:nvSpPr>
          <p:cNvPr id="317" name="Google Shape;317;g3e7f941ea52_1_164"/>
          <p:cNvSpPr/>
          <p:nvPr/>
        </p:nvSpPr>
        <p:spPr>
          <a:xfrm>
            <a:off x="6230913" y="1864325"/>
            <a:ext cx="1739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SQLite3 database powering output display</a:t>
            </a:r>
            <a:endParaRPr sz="950" b="0" i="0" u="none" strike="noStrike" cap="none"/>
          </a:p>
        </p:txBody>
      </p:sp>
      <p:sp>
        <p:nvSpPr>
          <p:cNvPr id="318" name="Google Shape;318;g3e7f941ea52_1_164"/>
          <p:cNvSpPr/>
          <p:nvPr/>
        </p:nvSpPr>
        <p:spPr>
          <a:xfrm>
            <a:off x="1287117" y="2695927"/>
            <a:ext cx="14853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erif 4 SemiBold" panose="02040603050405020204"/>
              <a:buNone/>
            </a:pPr>
            <a:r>
              <a:rPr lang="en-US" sz="11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Application Layer</a:t>
            </a:r>
            <a:endParaRPr sz="1150" b="0" i="0" u="none" strike="noStrike" cap="none"/>
          </a:p>
        </p:txBody>
      </p:sp>
      <p:sp>
        <p:nvSpPr>
          <p:cNvPr id="319" name="Google Shape;319;g3e7f941ea52_1_164"/>
          <p:cNvSpPr/>
          <p:nvPr/>
        </p:nvSpPr>
        <p:spPr>
          <a:xfrm>
            <a:off x="1173124" y="2937615"/>
            <a:ext cx="15993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Module selection, Dashboard, Authentication</a:t>
            </a:r>
            <a:endParaRPr sz="950" b="0" i="0" u="none" strike="noStrike" cap="none"/>
          </a:p>
        </p:txBody>
      </p:sp>
      <p:sp>
        <p:nvSpPr>
          <p:cNvPr id="320" name="Google Shape;320;g3e7f941ea52_1_164"/>
          <p:cNvSpPr/>
          <p:nvPr/>
        </p:nvSpPr>
        <p:spPr>
          <a:xfrm>
            <a:off x="6230913" y="3250109"/>
            <a:ext cx="14853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Source Serif 4 SemiBold" panose="02040603050405020204"/>
              <a:buNone/>
            </a:pPr>
            <a:r>
              <a:rPr lang="en-US" sz="11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Core Modules</a:t>
            </a:r>
            <a:endParaRPr sz="1150" b="0" i="0" u="none" strike="noStrike" cap="none"/>
          </a:p>
        </p:txBody>
      </p:sp>
      <p:sp>
        <p:nvSpPr>
          <p:cNvPr id="321" name="Google Shape;321;g3e7f941ea52_1_164"/>
          <p:cNvSpPr/>
          <p:nvPr/>
        </p:nvSpPr>
        <p:spPr>
          <a:xfrm>
            <a:off x="6230913" y="3491797"/>
            <a:ext cx="173970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Source Sans 3" panose="020B0303030403020204"/>
              <a:buNone/>
            </a:pPr>
            <a:r>
              <a:rPr lang="en-US" sz="9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Attendance, Assignments, Notes, Timetable, Exams, Events</a:t>
            </a:r>
            <a:endParaRPr sz="950" b="0" i="0" u="none" strike="noStrike" cap="none"/>
          </a:p>
        </p:txBody>
      </p:sp>
      <p:sp>
        <p:nvSpPr>
          <p:cNvPr id="322" name="Google Shape;322;g3e7f941ea52_1_164"/>
          <p:cNvSpPr/>
          <p:nvPr/>
        </p:nvSpPr>
        <p:spPr>
          <a:xfrm>
            <a:off x="1004367" y="4537993"/>
            <a:ext cx="7135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Source Sans 3" panose="020B0303030403020204"/>
              <a:buNone/>
            </a:pPr>
            <a:r>
              <a:rPr lang="en-US" sz="85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Each layer is independently maintainable, making the system extensible for future modules such as mobile APIs or cloud storage without restructuring the core.</a:t>
            </a:r>
            <a:endParaRPr sz="850" b="0" i="0" u="none" strike="noStrike" cap="non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29" name="Google Shape;329;p1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73415" y="363662"/>
            <a:ext cx="3312096" cy="441617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409054" y="393278"/>
            <a:ext cx="4757663" cy="343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150"/>
              <a:buFont typeface="Source Serif 4 SemiBold" panose="02040603050405020204"/>
              <a:buNone/>
            </a:pPr>
            <a:r>
              <a:rPr lang="en-US" sz="215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 Future Enhancements</a:t>
            </a:r>
            <a:endParaRPr sz="2150" b="0" i="0" u="none" strike="noStrike" cap="none"/>
          </a:p>
        </p:txBody>
      </p:sp>
      <p:sp>
        <p:nvSpPr>
          <p:cNvPr id="331" name="Google Shape;331;p10"/>
          <p:cNvSpPr/>
          <p:nvPr/>
        </p:nvSpPr>
        <p:spPr>
          <a:xfrm>
            <a:off x="441722" y="1228502"/>
            <a:ext cx="2240533" cy="9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Source Sans 3" panose="020B0303030403020204"/>
              <a:buNone/>
            </a:pPr>
            <a:endParaRPr sz="900" b="0" i="0" u="none" strike="noStrike" cap="none"/>
          </a:p>
        </p:txBody>
      </p:sp>
      <p:sp>
        <p:nvSpPr>
          <p:cNvPr id="332" name="Google Shape;332;p10"/>
          <p:cNvSpPr/>
          <p:nvPr/>
        </p:nvSpPr>
        <p:spPr>
          <a:xfrm>
            <a:off x="441703" y="965300"/>
            <a:ext cx="39381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1050"/>
              <a:buFont typeface="Source Serif 4 SemiBold" panose="02040603050405020204"/>
              <a:buNone/>
            </a:pPr>
            <a:r>
              <a:rPr lang="en-US" sz="105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Road</a:t>
            </a:r>
            <a:r>
              <a:rPr lang="en-US" sz="105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m</a:t>
            </a:r>
            <a:r>
              <a:rPr lang="en-US" sz="1050" b="1" i="0" u="none" strike="noStrike" cap="none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ap Ahead</a:t>
            </a:r>
            <a:endParaRPr sz="1050" b="0" i="0" u="none" strike="noStrike" cap="none"/>
          </a:p>
        </p:txBody>
      </p:sp>
      <p:pic>
        <p:nvPicPr>
          <p:cNvPr id="333" name="Google Shape;333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004840" y="1301986"/>
            <a:ext cx="58415" cy="5841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>
            <a:off x="496375" y="1301974"/>
            <a:ext cx="40335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SemiBold" panose="02040603050405020204"/>
              <a:buNone/>
            </a:pPr>
            <a:r>
              <a:rPr lang="en-US" sz="10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Mobile application</a:t>
            </a:r>
            <a:endParaRPr sz="1050" b="0" i="0" u="none" strike="noStrike" cap="none"/>
          </a:p>
        </p:txBody>
      </p:sp>
      <p:sp>
        <p:nvSpPr>
          <p:cNvPr id="335" name="Google Shape;335;p10"/>
          <p:cNvSpPr/>
          <p:nvPr/>
        </p:nvSpPr>
        <p:spPr>
          <a:xfrm>
            <a:off x="552950" y="1502975"/>
            <a:ext cx="47577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Source Sans 3" panose="020B0303030403020204"/>
              <a:buNone/>
            </a:pPr>
            <a:r>
              <a:rPr lang="en-US" sz="90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Native iOS and Android apps for on-the-go access.</a:t>
            </a:r>
            <a:endParaRPr sz="900" b="0" i="0" u="none" strike="noStrike" cap="none"/>
          </a:p>
        </p:txBody>
      </p:sp>
      <p:pic>
        <p:nvPicPr>
          <p:cNvPr id="336" name="Google Shape;336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004840" y="2080878"/>
            <a:ext cx="58415" cy="5841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0"/>
          <p:cNvSpPr/>
          <p:nvPr/>
        </p:nvSpPr>
        <p:spPr>
          <a:xfrm>
            <a:off x="496200" y="2018775"/>
            <a:ext cx="40335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SemiBold" panose="02040603050405020204"/>
              <a:buNone/>
            </a:pPr>
            <a:r>
              <a:rPr lang="en-US" sz="10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AI study assistant</a:t>
            </a:r>
            <a:endParaRPr sz="1050" b="0" i="0" u="none" strike="noStrike" cap="none"/>
          </a:p>
        </p:txBody>
      </p:sp>
      <p:sp>
        <p:nvSpPr>
          <p:cNvPr id="338" name="Google Shape;338;p10"/>
          <p:cNvSpPr/>
          <p:nvPr/>
        </p:nvSpPr>
        <p:spPr>
          <a:xfrm>
            <a:off x="552900" y="2245075"/>
            <a:ext cx="47577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Source Sans 3" panose="020B0303030403020204"/>
              <a:buNone/>
            </a:pPr>
            <a:r>
              <a:rPr lang="en-US" sz="90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Personalised recommendations and smart reminders.</a:t>
            </a:r>
            <a:endParaRPr sz="900" b="0" i="0" u="none" strike="noStrike" cap="none"/>
          </a:p>
        </p:txBody>
      </p:sp>
      <p:pic>
        <p:nvPicPr>
          <p:cNvPr id="339" name="Google Shape;339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004840" y="2859770"/>
            <a:ext cx="58415" cy="5841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/>
          <p:nvPr/>
        </p:nvSpPr>
        <p:spPr>
          <a:xfrm>
            <a:off x="496175" y="2674850"/>
            <a:ext cx="40335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SemiBold" panose="02040603050405020204"/>
              <a:buNone/>
            </a:pPr>
            <a:r>
              <a:rPr lang="en-US" sz="10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Cloud database</a:t>
            </a:r>
            <a:endParaRPr sz="1050" b="0" i="0" u="none" strike="noStrike" cap="none"/>
          </a:p>
        </p:txBody>
      </p:sp>
      <p:sp>
        <p:nvSpPr>
          <p:cNvPr id="341" name="Google Shape;341;p10"/>
          <p:cNvSpPr/>
          <p:nvPr/>
        </p:nvSpPr>
        <p:spPr>
          <a:xfrm>
            <a:off x="496300" y="2905450"/>
            <a:ext cx="48144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Source Sans 3" panose="020B0303030403020204"/>
              <a:buNone/>
            </a:pPr>
            <a:r>
              <a:rPr lang="en-US" sz="9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   </a:t>
            </a:r>
            <a:r>
              <a:rPr lang="en-US" sz="90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Migrate from SQLite3 to PostgreSQL on cloud infrastructure.</a:t>
            </a:r>
            <a:endParaRPr sz="900" b="0" i="0" u="none" strike="noStrike" cap="none"/>
          </a:p>
        </p:txBody>
      </p:sp>
      <p:pic>
        <p:nvPicPr>
          <p:cNvPr id="342" name="Google Shape;342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004840" y="3638662"/>
            <a:ext cx="58415" cy="5841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"/>
          <p:cNvSpPr/>
          <p:nvPr/>
        </p:nvSpPr>
        <p:spPr>
          <a:xfrm>
            <a:off x="505800" y="3276500"/>
            <a:ext cx="40335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SemiBold" panose="02040603050405020204"/>
              <a:buNone/>
            </a:pPr>
            <a:r>
              <a:rPr lang="en-US" sz="1050" b="1" i="0" u="none" strike="noStrike" cap="none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Online examinations</a:t>
            </a:r>
            <a:endParaRPr sz="1050" b="0" i="0" u="none" strike="noStrike" cap="none"/>
          </a:p>
        </p:txBody>
      </p:sp>
      <p:sp>
        <p:nvSpPr>
          <p:cNvPr id="344" name="Google Shape;344;p10"/>
          <p:cNvSpPr/>
          <p:nvPr/>
        </p:nvSpPr>
        <p:spPr>
          <a:xfrm>
            <a:off x="496300" y="3497725"/>
            <a:ext cx="48144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Source Sans 3" panose="020B0303030403020204"/>
              <a:buNone/>
            </a:pPr>
            <a:r>
              <a:rPr lang="en-US" sz="9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     </a:t>
            </a:r>
            <a:r>
              <a:rPr lang="en-US" sz="900" b="0" i="0" u="none" strike="noStrike" cap="none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Integrated proctored exam support within the platform.</a:t>
            </a:r>
            <a:endParaRPr sz="900" b="0" i="0" u="none" strike="noStrike" cap="none"/>
          </a:p>
        </p:txBody>
      </p:sp>
      <p:sp>
        <p:nvSpPr>
          <p:cNvPr id="345" name="Google Shape;345;p10"/>
          <p:cNvSpPr/>
          <p:nvPr/>
        </p:nvSpPr>
        <p:spPr>
          <a:xfrm>
            <a:off x="409054" y="4378226"/>
            <a:ext cx="14288" cy="371921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p10"/>
          <p:cNvSpPr/>
          <p:nvPr/>
        </p:nvSpPr>
        <p:spPr>
          <a:xfrm>
            <a:off x="5879450" y="871225"/>
            <a:ext cx="3100097" cy="3167787"/>
          </a:xfrm>
          <a:custGeom>
            <a:avLst/>
            <a:gdLst/>
            <a:ahLst/>
            <a:cxnLst/>
            <a:rect l="l" t="t" r="r" b="b"/>
            <a:pathLst>
              <a:path w="823946" h="833080" extrusionOk="0">
                <a:moveTo>
                  <a:pt x="0" y="0"/>
                </a:moveTo>
                <a:lnTo>
                  <a:pt x="823946" y="0"/>
                </a:lnTo>
                <a:lnTo>
                  <a:pt x="823946" y="833080"/>
                </a:lnTo>
                <a:lnTo>
                  <a:pt x="0" y="833080"/>
                </a:lnTo>
                <a:close/>
              </a:path>
            </a:pathLst>
          </a:custGeom>
          <a:blipFill rotWithShape="1">
            <a:blip r:embed="rId3"/>
            <a:stretch>
              <a:fillRect l="-15550" t="-14839" r="-15560" b="-1483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7f941ea52_1_89"/>
          <p:cNvSpPr/>
          <p:nvPr/>
        </p:nvSpPr>
        <p:spPr>
          <a:xfrm>
            <a:off x="490910" y="450279"/>
            <a:ext cx="33003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3AD7"/>
              </a:buClr>
              <a:buSzPts val="2550"/>
              <a:buFont typeface="Source Serif 4 SemiBold" panose="02040603050405020204"/>
              <a:buNone/>
            </a:pPr>
            <a:r>
              <a:rPr lang="en-US" sz="2550" b="1">
                <a:solidFill>
                  <a:srgbClr val="D73AD7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Conclusion</a:t>
            </a:r>
            <a:endParaRPr sz="25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4" name="Google Shape;354;g3e7f941ea52_1_89"/>
          <p:cNvSpPr/>
          <p:nvPr/>
        </p:nvSpPr>
        <p:spPr>
          <a:xfrm>
            <a:off x="490900" y="1125723"/>
            <a:ext cx="81621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ans 3" panose="020B0303030403020204"/>
              <a:buNone/>
            </a:pPr>
            <a:r>
              <a:rPr lang="en-US" sz="11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Brainy Campus demonstrates that a well-architected, full-stack web application can meaningfully modernise academic administration. The system delivers a </a:t>
            </a:r>
            <a:r>
              <a:rPr lang="en-US" sz="1100" b="1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centralised, secure, and scalable</a:t>
            </a:r>
            <a:r>
              <a:rPr lang="en-US" sz="11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 solution — replacing fragmented manual processes with an efficient digital workflow.</a:t>
            </a:r>
            <a:endParaRPr sz="1100">
              <a:solidFill>
                <a:srgbClr val="272525"/>
              </a:solidFill>
              <a:latin typeface="Source Sans 3" panose="020B0303030403020204"/>
              <a:ea typeface="Source Sans 3" panose="020B0303030403020204"/>
              <a:cs typeface="Source Sans 3" panose="020B0303030403020204"/>
              <a:sym typeface="Source Sans 3" panose="020B0303030403020204"/>
            </a:endParaRPr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ans 3" panose="020B0303030403020204"/>
              <a:buNone/>
            </a:pPr>
            <a:endParaRPr sz="1100">
              <a:solidFill>
                <a:srgbClr val="272525"/>
              </a:solidFill>
              <a:latin typeface="Source Sans 3" panose="020B0303030403020204"/>
              <a:ea typeface="Source Sans 3" panose="020B0303030403020204"/>
              <a:cs typeface="Source Sans 3" panose="020B0303030403020204"/>
              <a:sym typeface="Source Sans 3" panose="020B0303030403020204"/>
            </a:endParaRPr>
          </a:p>
        </p:txBody>
      </p:sp>
      <p:sp>
        <p:nvSpPr>
          <p:cNvPr id="355" name="Google Shape;355;g3e7f941ea52_1_89"/>
          <p:cNvSpPr/>
          <p:nvPr/>
        </p:nvSpPr>
        <p:spPr>
          <a:xfrm>
            <a:off x="490910" y="1708324"/>
            <a:ext cx="8162100" cy="1575300"/>
          </a:xfrm>
          <a:prstGeom prst="roundRect">
            <a:avLst>
              <a:gd name="adj" fmla="val 3740"/>
            </a:avLst>
          </a:prstGeom>
          <a:solidFill>
            <a:srgbClr val="F4D4F7"/>
          </a:solidFill>
          <a:ln w="9525" cap="flat" cmpd="sng">
            <a:solidFill>
              <a:srgbClr val="DA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6" name="Google Shape;356;g3e7f941ea52_1_89"/>
          <p:cNvSpPr/>
          <p:nvPr/>
        </p:nvSpPr>
        <p:spPr>
          <a:xfrm>
            <a:off x="495672" y="1793579"/>
            <a:ext cx="4076400" cy="783000"/>
          </a:xfrm>
          <a:prstGeom prst="roundRect">
            <a:avLst>
              <a:gd name="adj" fmla="val 7525"/>
            </a:avLst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7" name="Google Shape;357;g3e7f941ea52_1_89"/>
          <p:cNvSpPr/>
          <p:nvPr/>
        </p:nvSpPr>
        <p:spPr>
          <a:xfrm>
            <a:off x="635868" y="1853282"/>
            <a:ext cx="16500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250" b="1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Centralised</a:t>
            </a:r>
            <a:endParaRPr sz="12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8" name="Google Shape;358;g3e7f941ea52_1_89"/>
          <p:cNvSpPr/>
          <p:nvPr/>
        </p:nvSpPr>
        <p:spPr>
          <a:xfrm>
            <a:off x="635868" y="2138437"/>
            <a:ext cx="37959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ans 3" panose="020B0303030403020204"/>
              <a:buNone/>
            </a:pPr>
            <a:r>
              <a:rPr lang="en-US" sz="11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All academic data in one unified system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9" name="Google Shape;359;g3e7f941ea52_1_89"/>
          <p:cNvSpPr/>
          <p:nvPr/>
        </p:nvSpPr>
        <p:spPr>
          <a:xfrm>
            <a:off x="4572000" y="1793579"/>
            <a:ext cx="4076400" cy="7830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0" name="Google Shape;360;g3e7f941ea52_1_89"/>
          <p:cNvSpPr/>
          <p:nvPr/>
        </p:nvSpPr>
        <p:spPr>
          <a:xfrm>
            <a:off x="4572000" y="1713086"/>
            <a:ext cx="19200" cy="783000"/>
          </a:xfrm>
          <a:prstGeom prst="roundRect">
            <a:avLst>
              <a:gd name="adj" fmla="val 30924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1" name="Google Shape;361;g3e7f941ea52_1_89"/>
          <p:cNvSpPr/>
          <p:nvPr/>
        </p:nvSpPr>
        <p:spPr>
          <a:xfrm>
            <a:off x="4712196" y="1853282"/>
            <a:ext cx="16500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250" b="1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Secure</a:t>
            </a:r>
            <a:endParaRPr sz="12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2" name="Google Shape;362;g3e7f941ea52_1_89"/>
          <p:cNvSpPr/>
          <p:nvPr/>
        </p:nvSpPr>
        <p:spPr>
          <a:xfrm>
            <a:off x="4712196" y="2138437"/>
            <a:ext cx="37959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ans 3" panose="020B0303030403020204"/>
              <a:buNone/>
            </a:pPr>
            <a:r>
              <a:rPr lang="en-US" sz="11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Role-based access with session management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3" name="Google Shape;363;g3e7f941ea52_1_89"/>
          <p:cNvSpPr/>
          <p:nvPr/>
        </p:nvSpPr>
        <p:spPr>
          <a:xfrm>
            <a:off x="495672" y="2576489"/>
            <a:ext cx="4076400" cy="7830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4" name="Google Shape;364;g3e7f941ea52_1_89"/>
          <p:cNvSpPr/>
          <p:nvPr/>
        </p:nvSpPr>
        <p:spPr>
          <a:xfrm>
            <a:off x="495672" y="2495996"/>
            <a:ext cx="4076400" cy="19200"/>
          </a:xfrm>
          <a:prstGeom prst="roundRect">
            <a:avLst>
              <a:gd name="adj" fmla="val 30924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5" name="Google Shape;365;g3e7f941ea52_1_89"/>
          <p:cNvSpPr/>
          <p:nvPr/>
        </p:nvSpPr>
        <p:spPr>
          <a:xfrm>
            <a:off x="635868" y="2636193"/>
            <a:ext cx="16500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250" b="1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Scalable</a:t>
            </a:r>
            <a:endParaRPr sz="12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6" name="Google Shape;366;g3e7f941ea52_1_89"/>
          <p:cNvSpPr/>
          <p:nvPr/>
        </p:nvSpPr>
        <p:spPr>
          <a:xfrm>
            <a:off x="635868" y="2921347"/>
            <a:ext cx="37959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ans 3" panose="020B0303030403020204"/>
              <a:buNone/>
            </a:pPr>
            <a:r>
              <a:rPr lang="en-US" sz="11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Architecture ready for future expansion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7" name="Google Shape;367;g3e7f941ea52_1_89"/>
          <p:cNvSpPr/>
          <p:nvPr/>
        </p:nvSpPr>
        <p:spPr>
          <a:xfrm>
            <a:off x="4572000" y="2576489"/>
            <a:ext cx="4076400" cy="7830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8" name="Google Shape;368;g3e7f941ea52_1_89"/>
          <p:cNvSpPr/>
          <p:nvPr/>
        </p:nvSpPr>
        <p:spPr>
          <a:xfrm>
            <a:off x="4572000" y="2495996"/>
            <a:ext cx="19200" cy="783000"/>
          </a:xfrm>
          <a:prstGeom prst="roundRect">
            <a:avLst>
              <a:gd name="adj" fmla="val 30924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9" name="Google Shape;369;g3e7f941ea52_1_89"/>
          <p:cNvSpPr/>
          <p:nvPr/>
        </p:nvSpPr>
        <p:spPr>
          <a:xfrm>
            <a:off x="4572000" y="2495996"/>
            <a:ext cx="4076400" cy="19200"/>
          </a:xfrm>
          <a:prstGeom prst="roundRect">
            <a:avLst>
              <a:gd name="adj" fmla="val 309240"/>
            </a:avLst>
          </a:prstGeom>
          <a:solidFill>
            <a:srgbClr val="DABA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0" name="Google Shape;370;g3e7f941ea52_1_89"/>
          <p:cNvSpPr/>
          <p:nvPr/>
        </p:nvSpPr>
        <p:spPr>
          <a:xfrm>
            <a:off x="4712196" y="2636193"/>
            <a:ext cx="16500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250" b="1">
                <a:solidFill>
                  <a:srgbClr val="272525"/>
                </a:solidFill>
                <a:latin typeface="Source Serif 4 SemiBold" panose="02040603050405020204"/>
                <a:ea typeface="Source Serif 4 SemiBold" panose="02040603050405020204"/>
                <a:cs typeface="Source Serif 4 SemiBold" panose="02040603050405020204"/>
                <a:sym typeface="Source Serif 4 SemiBold" panose="02040603050405020204"/>
              </a:rPr>
              <a:t>Impactful</a:t>
            </a:r>
            <a:endParaRPr sz="12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1" name="Google Shape;371;g3e7f941ea52_1_89"/>
          <p:cNvSpPr/>
          <p:nvPr/>
        </p:nvSpPr>
        <p:spPr>
          <a:xfrm>
            <a:off x="4712196" y="2921347"/>
            <a:ext cx="37959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ans 3" panose="020B0303030403020204"/>
              <a:buNone/>
            </a:pPr>
            <a:r>
              <a:rPr lang="en-US" sz="1100">
                <a:solidFill>
                  <a:srgbClr val="272525"/>
                </a:solidFill>
                <a:latin typeface="Source Sans 3" panose="020B0303030403020204"/>
                <a:ea typeface="Source Sans 3" panose="020B0303030403020204"/>
                <a:cs typeface="Source Sans 3" panose="020B0303030403020204"/>
                <a:sym typeface="Source Sans 3" panose="020B0303030403020204"/>
              </a:rPr>
              <a:t>Measurable improvement in productivity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2" name="Google Shape;372;g3e7f941ea52_1_89"/>
          <p:cNvSpPr/>
          <p:nvPr/>
        </p:nvSpPr>
        <p:spPr>
          <a:xfrm>
            <a:off x="490910" y="3466579"/>
            <a:ext cx="8162100" cy="10500"/>
          </a:xfrm>
          <a:prstGeom prst="rect">
            <a:avLst/>
          </a:prstGeom>
          <a:solidFill>
            <a:srgbClr val="272525">
              <a:alpha val="5019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7f941ea52_1_127"/>
          <p:cNvSpPr/>
          <p:nvPr/>
        </p:nvSpPr>
        <p:spPr>
          <a:xfrm>
            <a:off x="-25" y="25"/>
            <a:ext cx="9144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600" b="1">
              <a:solidFill>
                <a:srgbClr val="36609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79" name="Google Shape;379;g3e7f941ea52_1_12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08550" y="228075"/>
            <a:ext cx="8585925" cy="469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4880</Words>
  <Application>WPS Presentation</Application>
  <PresentationFormat/>
  <Paragraphs>220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Source Serif 4 SemiBold</vt:lpstr>
      <vt:lpstr>Source Sans 3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Abc</cp:lastModifiedBy>
  <cp:revision>2</cp:revision>
  <dcterms:created xsi:type="dcterms:W3CDTF">2026-05-12T17:34:00Z</dcterms:created>
  <dcterms:modified xsi:type="dcterms:W3CDTF">2026-05-13T03:47:23Z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550A810E1FD0463AB73B32AB763F0636_12</vt:lpwstr>
  </property>
  <property fmtid="{D5CDD505-2E9C-101B-9397-08002B2CF9AE}" pid="3" name="KSOProductBuildVer">
    <vt:lpwstr>1033-12.1.0.25242</vt:lpwstr>
  </property>
</Properties>
</file>